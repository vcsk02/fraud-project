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8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5" Type="http://schemas.openxmlformats.org/officeDocument/2006/relationships/image" Target="../media/image30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2787" y="1564034"/>
            <a:ext cx="22574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92534"/>
            <a:ext cx="7620000" cy="487278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81075" y="1973609"/>
            <a:ext cx="68008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SentinelAI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81075" y="2727870"/>
            <a:ext cx="680085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Enterprise Fraud Defense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43000" y="4289970"/>
            <a:ext cx="647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CMPE 256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43000" y="5036689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Siddharth Rao Kartik</a:t>
            </a:r>
            <a:endParaRPr b="0" i="0" sz="165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Vineeth Chandra Sai Kandukuri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0" i="0" sz="165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Pran</a:t>
            </a:r>
            <a:r>
              <a:rPr lang="en-US" sz="16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jal Shrivastava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4612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14612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14612"/>
            <a:ext cx="3492549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94237" y="379571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Severe Imbalance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3481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Genuine fraud represents &lt;0.2% of transactions. Standard models ignore this minority class entirely.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72537" y="379571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"Black Box" Trust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40324" y="43481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Complex models make accurate predictions but offer no explanation, leading to regulatory compliance failures.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50836" y="379571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Static Rules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18624" y="43481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Rules-based systems (e.g., "if &gt; $10k") are too slow to catch zero-day attacks and evolving fraud rings.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30432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30432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30432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1076325"/>
            <a:ext cx="1112139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Challenge: Why Traditional Systems Fail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75" y="1902321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Introducing SentinelAI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809750" y="2826246"/>
            <a:ext cx="85725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production-grade </a:t>
            </a:r>
            <a:r>
              <a:rPr b="1" i="0" lang="en-US" sz="24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Recommender Engine</a:t>
            </a:r>
            <a:r>
              <a:rPr b="0" i="0" lang="en-US" sz="24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that doesn't just detect fraud—it prioritizes risk, explains decisions, and adapts in real-time.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619750" y="4669928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50" y="508902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9312" y="508902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1362" y="5089028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765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2867025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Decoupled for Scalability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4006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"Not just a script, but a deployed system."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860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14400" y="33813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33813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Frontend (The Face):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Built with Streamlit for interactive analyst dashboards and real-time visualization.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14400" y="3990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39909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Backend (The Brain):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high-performance FastAPI server handling inference and logic.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46005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46005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Persistence Layer: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SQLite database for immutable audit logging and model drift monitoring.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1076325"/>
            <a:ext cx="673084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Microservices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860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6381750" y="220980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Best of Both Worlds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2714625"/>
            <a:ext cx="2733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 Supervised: Random Forest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81750" y="31623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Trained on historical data to catch </a:t>
            </a: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known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fraud patterns with high precision.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81750" y="4010025"/>
            <a:ext cx="3009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 Unsupervised: Isolation Forest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81750" y="44577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Detects statistical anomalies and outliers to catch </a:t>
            </a: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Zero-Day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attacks.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81750" y="5305425"/>
            <a:ext cx="1695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3. SMOTE Pipeline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381750" y="57531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Mathematically rebalances the dataset to prevent model bias toward the majority class.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1000125"/>
            <a:ext cx="907113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"Brain": Hybrid Ensemble Engine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765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3171825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Solving the "Black Box" Problem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7242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don't just output a risk score; we tell the analyst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why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860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14400" y="42195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42195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Uses Game Theory (Shapley Values) to calculate marginal feature contribution.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14400" y="48291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48291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Red Bars: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Push risk HIGHER (e.g., High Amount, Foreign IP).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14400" y="5133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51339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Blue Bars: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Push risk LOWER (e.g., Trusted Device).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1076325"/>
            <a:ext cx="798099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Explainable AI (XAI) with SHAP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1171575"/>
            <a:ext cx="4650581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Advanced Link Analysis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2733675"/>
            <a:ext cx="465058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Detecting Organized Fraud Rings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3790950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Sophisticated attackers use different accounts but often share underlying attributes.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4781550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Our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Graph Theory Module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visualizes these hidden connections: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6991350"/>
            <a:ext cx="44291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catches fraud that individual transaction analysis misses.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1104900" y="57340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43000" y="573405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Shared IP Addresses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104900" y="60388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143000" y="603885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Common Device IDs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104900" y="63436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143000" y="634365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Collusion between accounts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1325" y="1858267"/>
            <a:ext cx="10191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86767"/>
            <a:ext cx="5838825" cy="428431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1025604" y="2267842"/>
            <a:ext cx="49306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Live Demo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143000" y="3467992"/>
            <a:ext cx="46958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Showcasing SentinelAI in Action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3014662" y="4180433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143000" y="4504283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Real-time Ingestion • 2. Risk Scoring • 3. Graph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11049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276790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Evaluated on Test Set (20% Split) with Imbalanced Data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57397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High F1-Score proves robustness against class imbalance.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1076325"/>
            <a:ext cx="49506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Performance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4612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14612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14612"/>
            <a:ext cx="3492549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894237" y="379571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Containerization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62025" y="43481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Deploy backend and frontend services via Docker/Kubernetes for cloud scaling.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4672537" y="379571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Real-Time Streams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740324" y="43481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Replace REST batching with Apache Kafka for sub-millisecond transaction ingestion.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8450836" y="379571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Deep Learning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518624" y="43481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 Autoencoders and GNNs (Graph Neural Networks) for complex pattern recognition.</a:t>
            </a:r>
            <a:endParaRPr/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30432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30432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30432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1500" y="1076325"/>
            <a:ext cx="6980872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Future Scope &amp; Deployment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687" y="1835497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295275" y="307374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01850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 you for your attention.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4765178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SentinelAI Team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571500" y="15853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571500" y="237008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71500" y="315485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71500" y="393962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571500" y="472440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71500" y="2360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571500" y="2360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31453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571500" y="31453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571500" y="39301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71500" y="39301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4714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71500" y="4714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71500" y="56977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71500" y="56977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347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1666875" y="17281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https://www.slideteam.net/media/catalog/product/cache/1280x720/f/r/frontend_and_backend_database_architecture_diagram_slide01.jpg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666875" y="19739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www.slideteam.net</a:t>
            </a:r>
            <a:endParaRPr/>
          </a:p>
        </p:txBody>
      </p:sp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195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1666875" y="25129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https://miro.medium.com/0*JDdCH7D_SAuAF8gy.png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1666875" y="27586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pic>
        <p:nvPicPr>
          <p:cNvPr descr="image.png" id="257" name="Google Shape;25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042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1666875" y="32977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https://www.justintodata.com/wp-content/uploads/2022/02/shap-waterfall-instance-2-1024x623.png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1666875" y="35434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www.justintodata.com</a:t>
            </a:r>
            <a:endParaRPr/>
          </a:p>
        </p:txBody>
      </p:sp>
      <p:pic>
        <p:nvPicPr>
          <p:cNvPr descr="image.png" id="260" name="Google Shape;26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890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666875" y="40825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https://miro.medium.com/v2/resize:fit:1200/1*PAjJkQirOVwaVAoxY3vlVw.png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666875" y="43282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pic>
        <p:nvPicPr>
          <p:cNvPr descr="image.png" id="263" name="Google Shape;26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729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1666875" y="486727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https://static.vecteezy.com/system/resources/previews/026/384/935/non_2x/futuristic-glowing-padlock-with-plexus-lines-and-glitter-particles-a-padlock-in-the-neon-light-style-cyber-security-data-and-privacy-protection-digital-technology-background-vector.jpg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1666875" y="53110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566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1666875" y="58501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https://miro.medium.com/v2/resize:fit:2000/1*XC0xECuKKGLSRTr9f9MFIQ.png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1666875" y="60958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375642"/>
            <a:ext cx="371046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